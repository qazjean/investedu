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6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51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 descr="preencoded.png">
            <a:extLst>
              <a:ext uri="{FF2B5EF4-FFF2-40B4-BE49-F238E27FC236}">
                <a16:creationId xmlns:a16="http://schemas.microsoft.com/office/drawing/2014/main" id="{9EC85C29-92C9-6F05-1727-F70602B7E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Object1"/>
          <p:cNvSpPr/>
          <p:nvPr/>
        </p:nvSpPr>
        <p:spPr>
          <a:xfrm>
            <a:off x="1026318" y="1515744"/>
            <a:ext cx="7091363" cy="2311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60" dirty="0" err="1">
                <a:solidFill>
                  <a:schemeClr val="bg1"/>
                </a:solidFill>
              </a:rPr>
              <a:t>InvestEdu</a:t>
            </a:r>
            <a:endParaRPr lang="en-US" sz="486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76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450135" y="-1553639"/>
            <a:ext cx="14049376" cy="8011999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52450" y="552450"/>
            <a:ext cx="7024688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773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2398" dirty="0"/>
          </a:p>
        </p:txBody>
      </p:sp>
      <p:sp>
        <p:nvSpPr>
          <p:cNvPr id="4" name="Object3"/>
          <p:cNvSpPr/>
          <p:nvPr/>
        </p:nvSpPr>
        <p:spPr>
          <a:xfrm>
            <a:off x="552450" y="1243013"/>
            <a:ext cx="6824663" cy="3348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200" dirty="0"/>
              <a:t>Люди хотят начать инвестировать, но большинство останавливается на старте — </a:t>
            </a:r>
            <a:r>
              <a:rPr lang="ru-RU" sz="1200" b="1" dirty="0"/>
              <a:t>страшно потерять деньги и ошибиться</a:t>
            </a:r>
            <a:r>
              <a:rPr lang="ru-RU" sz="1200" dirty="0"/>
              <a:t>. Новички сталкиваются с целым набором барьеров:</a:t>
            </a:r>
          </a:p>
          <a:p>
            <a:endParaRPr lang="ru-RU" sz="1200" dirty="0"/>
          </a:p>
          <a:p>
            <a:r>
              <a:rPr lang="ru-RU" sz="1200" b="1" dirty="0"/>
              <a:t>1. Сложная и перегруженная теория</a:t>
            </a:r>
          </a:p>
          <a:p>
            <a:r>
              <a:rPr lang="ru-RU" sz="1200" dirty="0"/>
              <a:t>Финансовые термины, отчётность, графики — без структурного обучения всё выглядит как закрытый клуб для профессионалов.</a:t>
            </a:r>
          </a:p>
          <a:p>
            <a:r>
              <a:rPr lang="ru-RU" sz="1200" b="1" dirty="0"/>
              <a:t>2. Нет безопасной практики</a:t>
            </a:r>
          </a:p>
          <a:p>
            <a:r>
              <a:rPr lang="ru-RU" sz="1200" dirty="0"/>
              <a:t>Курсы дают теорию, но не дают “потренироваться” на реальных рыночных ситуациях. Новичок вынужден учиться на собственных ошибках — и терять деньги.</a:t>
            </a:r>
          </a:p>
          <a:p>
            <a:r>
              <a:rPr lang="ru-RU" sz="1200" b="1" dirty="0"/>
              <a:t>3. Непонятно, как применять знания</a:t>
            </a:r>
          </a:p>
          <a:p>
            <a:r>
              <a:rPr lang="ru-RU" sz="1200" dirty="0"/>
              <a:t>Как анализировать компанию? Стоит ли покупать сейчас?</a:t>
            </a:r>
            <a:br>
              <a:rPr lang="ru-RU" sz="1200" dirty="0"/>
            </a:br>
            <a:r>
              <a:rPr lang="ru-RU" sz="1200" dirty="0"/>
              <a:t>Большинство не понимают, как превращать информацию в конкретные решения.</a:t>
            </a:r>
          </a:p>
          <a:p>
            <a:r>
              <a:rPr lang="ru-RU" sz="1200" b="1" dirty="0"/>
              <a:t>4. Нет ориентиров и понимания рынка</a:t>
            </a:r>
          </a:p>
          <a:p>
            <a:r>
              <a:rPr lang="ru-RU" sz="1200" dirty="0"/>
              <a:t>Без аналитики и прогнозов человек чувствует себя в хаосе: что влияет на цену, куда движется рынок, что важно, а что — шум?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0" y="285750"/>
            <a:ext cx="8572500" cy="45720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52450" y="552450"/>
            <a:ext cx="7024688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</a:t>
            </a:r>
            <a:endParaRPr lang="en-US" sz="2398" dirty="0"/>
          </a:p>
        </p:txBody>
      </p:sp>
      <p:sp>
        <p:nvSpPr>
          <p:cNvPr id="4" name="Object3"/>
          <p:cNvSpPr/>
          <p:nvPr/>
        </p:nvSpPr>
        <p:spPr>
          <a:xfrm>
            <a:off x="552450" y="1243013"/>
            <a:ext cx="7566116" cy="3435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200" b="1" dirty="0" err="1">
                <a:solidFill>
                  <a:schemeClr val="bg1"/>
                </a:solidFill>
              </a:rPr>
              <a:t>InvestEdu</a:t>
            </a:r>
            <a:r>
              <a:rPr lang="ru-RU" sz="1200" dirty="0">
                <a:solidFill>
                  <a:schemeClr val="bg1"/>
                </a:solidFill>
              </a:rPr>
              <a:t> превращает страх и неуверенность новичков в понятный и интересный путь обучения.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Платформа объединяет </a:t>
            </a:r>
            <a:r>
              <a:rPr lang="ru-RU" sz="1200" i="1" dirty="0">
                <a:solidFill>
                  <a:schemeClr val="bg1"/>
                </a:solidFill>
              </a:rPr>
              <a:t>теорию, практику и искусственный интеллект</a:t>
            </a:r>
            <a:r>
              <a:rPr lang="ru-RU" sz="1200" dirty="0">
                <a:solidFill>
                  <a:schemeClr val="bg1"/>
                </a:solidFill>
              </a:rPr>
              <a:t>, чтобы человек мог учиться инвестированию безопасно, шаг за шагом.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bg1"/>
                </a:solidFill>
              </a:rPr>
              <a:t>1. Понятная, структурированная теория</a:t>
            </a:r>
          </a:p>
          <a:p>
            <a:r>
              <a:rPr lang="ru-RU" sz="1200" dirty="0">
                <a:solidFill>
                  <a:schemeClr val="bg1"/>
                </a:solidFill>
              </a:rPr>
              <a:t>40+ уроков объясняют сложные финансовые темы простым языком. Интерактивные калькуляторы, примеры из реального бизнеса и визуальные элементы делают обучение живым и доступным каждому.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bg1"/>
                </a:solidFill>
              </a:rPr>
              <a:t>2. Практика на реальных рыночных ситуациях</a:t>
            </a:r>
          </a:p>
          <a:p>
            <a:r>
              <a:rPr lang="ru-RU" sz="1200" dirty="0">
                <a:solidFill>
                  <a:schemeClr val="bg1"/>
                </a:solidFill>
              </a:rPr>
              <a:t>6 исторических кейсов — от Enron до Tesla и </a:t>
            </a:r>
            <a:r>
              <a:rPr lang="ru-RU" sz="1200" dirty="0" err="1">
                <a:solidFill>
                  <a:schemeClr val="bg1"/>
                </a:solidFill>
              </a:rPr>
              <a:t>GameStop</a:t>
            </a:r>
            <a:r>
              <a:rPr lang="ru-RU" sz="1200" dirty="0">
                <a:solidFill>
                  <a:schemeClr val="bg1"/>
                </a:solidFill>
              </a:rPr>
              <a:t> — позволяют принимать решения как настоящий инвестор. Человек тренируется на прошлом рынке, не рискуя деньгами.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bg1"/>
                </a:solidFill>
              </a:rPr>
              <a:t>3. Инструменты, которые помогают думать как аналитик</a:t>
            </a:r>
          </a:p>
          <a:p>
            <a:r>
              <a:rPr lang="ru-RU" sz="1200" dirty="0">
                <a:solidFill>
                  <a:schemeClr val="bg1"/>
                </a:solidFill>
              </a:rPr>
              <a:t>Котировки, графики, мультипликаторы, новостной фон — всё встроено в платформу. Пользователь учится анализировать данные и принимать взвешенные решения.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bg1"/>
                </a:solidFill>
              </a:rPr>
              <a:t>4. Прогнозы и аналитика от AI</a:t>
            </a:r>
          </a:p>
          <a:p>
            <a:r>
              <a:rPr lang="ru-RU" sz="1200" dirty="0">
                <a:solidFill>
                  <a:schemeClr val="bg1"/>
                </a:solidFill>
              </a:rPr>
              <a:t>ML-модель показывает вероятность роста акции на 30 дней и объясняет, какие факторы повлияли на прогноз.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Это даёт новичку ориентиры и формирует понимание, как работает рынок.</a:t>
            </a:r>
          </a:p>
          <a:p>
            <a:pPr algn="l"/>
            <a:endParaRPr lang="en-US" sz="11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838200" y="4767528"/>
            <a:ext cx="18594538" cy="1139246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11968" y="315111"/>
            <a:ext cx="8120063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ru-RU" sz="2398" dirty="0">
                <a:solidFill>
                  <a:schemeClr val="bg1"/>
                </a:solidFill>
              </a:rPr>
              <a:t>Как работает продукт?</a:t>
            </a:r>
            <a:endParaRPr lang="en-US" sz="2398" dirty="0">
              <a:solidFill>
                <a:schemeClr val="bg1"/>
              </a:solidFill>
            </a:endParaRPr>
          </a:p>
        </p:txBody>
      </p:sp>
      <p:sp>
        <p:nvSpPr>
          <p:cNvPr id="4" name="Object3"/>
          <p:cNvSpPr/>
          <p:nvPr/>
        </p:nvSpPr>
        <p:spPr>
          <a:xfrm>
            <a:off x="181536" y="1126548"/>
            <a:ext cx="3745005" cy="43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200" dirty="0" err="1">
                <a:solidFill>
                  <a:schemeClr val="bg1"/>
                </a:solidFill>
              </a:rPr>
              <a:t>InvestEdu</a:t>
            </a:r>
            <a:r>
              <a:rPr lang="ru-RU" sz="1200" dirty="0">
                <a:solidFill>
                  <a:schemeClr val="bg1"/>
                </a:solidFill>
              </a:rPr>
              <a:t> — это интерактивная платформа, где пользователь учится и сразу применяет знания.</a:t>
            </a:r>
          </a:p>
          <a:p>
            <a:r>
              <a:rPr lang="ru-RU" sz="1200" b="1" dirty="0">
                <a:solidFill>
                  <a:schemeClr val="bg1"/>
                </a:solidFill>
              </a:rPr>
              <a:t>• На главной странице</a:t>
            </a:r>
            <a:r>
              <a:rPr lang="ru-RU" sz="1200" dirty="0">
                <a:solidFill>
                  <a:schemeClr val="bg1"/>
                </a:solidFill>
              </a:rPr>
              <a:t> он выбирает формат: теория, кейсы или AI-прогноз.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b="1" dirty="0">
                <a:solidFill>
                  <a:schemeClr val="bg1"/>
                </a:solidFill>
              </a:rPr>
              <a:t>• В уроках</a:t>
            </a:r>
            <a:r>
              <a:rPr lang="ru-RU" sz="1200" dirty="0">
                <a:solidFill>
                  <a:schemeClr val="bg1"/>
                </a:solidFill>
              </a:rPr>
              <a:t> получает понятные объяснения и сразу пробует инструменты: калькуляторы, симуляторы, графики.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b="1" dirty="0">
                <a:solidFill>
                  <a:schemeClr val="bg1"/>
                </a:solidFill>
              </a:rPr>
              <a:t>• В кейсах</a:t>
            </a:r>
            <a:r>
              <a:rPr lang="ru-RU" sz="1200" dirty="0">
                <a:solidFill>
                  <a:schemeClr val="bg1"/>
                </a:solidFill>
              </a:rPr>
              <a:t> принимает решения в реальных исторических ситуациях и видит итог, как будто инвестировал в прошлом.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b="1" dirty="0">
                <a:solidFill>
                  <a:schemeClr val="bg1"/>
                </a:solidFill>
              </a:rPr>
              <a:t>• В AI-ассистенте</a:t>
            </a:r>
            <a:r>
              <a:rPr lang="ru-RU" sz="1200" dirty="0">
                <a:solidFill>
                  <a:schemeClr val="bg1"/>
                </a:solidFill>
              </a:rPr>
              <a:t> загружает данные и получает прогноз вероятности роста акции + расшифровку факторов.</a:t>
            </a:r>
          </a:p>
          <a:p>
            <a:r>
              <a:rPr lang="ru-RU" sz="1200" b="1" dirty="0">
                <a:solidFill>
                  <a:schemeClr val="bg1"/>
                </a:solidFill>
              </a:rPr>
              <a:t>Все действия фиксируются: растут баллы, открываются уровни, формируется персональный прогресс.</a:t>
            </a:r>
            <a:endParaRPr lang="ru-RU" sz="1200" dirty="0">
              <a:solidFill>
                <a:schemeClr val="bg1"/>
              </a:solidFill>
            </a:endParaRPr>
          </a:p>
          <a:p>
            <a:pPr algn="l"/>
            <a:endParaRPr lang="en-US" sz="1166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85D506-0296-373B-583C-6B910C6CA6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38" r="6767"/>
          <a:stretch>
            <a:fillRect/>
          </a:stretch>
        </p:blipFill>
        <p:spPr>
          <a:xfrm>
            <a:off x="3806079" y="1126548"/>
            <a:ext cx="5297160" cy="28904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0" y="285750"/>
            <a:ext cx="8572500" cy="45720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52450" y="552450"/>
            <a:ext cx="8120063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</a:t>
            </a:r>
            <a:endParaRPr lang="en-US" sz="2398" dirty="0"/>
          </a:p>
        </p:txBody>
      </p:sp>
      <p:sp>
        <p:nvSpPr>
          <p:cNvPr id="4" name="Object3"/>
          <p:cNvSpPr/>
          <p:nvPr/>
        </p:nvSpPr>
        <p:spPr>
          <a:xfrm>
            <a:off x="552450" y="1102261"/>
            <a:ext cx="8120063" cy="30265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lang="ru-RU" sz="1400" dirty="0" err="1">
                <a:solidFill>
                  <a:schemeClr val="bg1"/>
                </a:solidFill>
              </a:rPr>
              <a:t>InvestEdu</a:t>
            </a:r>
            <a:r>
              <a:rPr lang="ru-RU" sz="1400" dirty="0">
                <a:solidFill>
                  <a:schemeClr val="bg1"/>
                </a:solidFill>
              </a:rPr>
              <a:t> создан для людей, которые хотят начать инвестировать, но боятся делать ошибки и терять деньги.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1. Новички в инвестициях (основная аудитория) - </a:t>
            </a:r>
            <a:r>
              <a:rPr lang="ru-RU" sz="1400" dirty="0">
                <a:solidFill>
                  <a:schemeClr val="bg1"/>
                </a:solidFill>
              </a:rPr>
              <a:t>18–35 лет </a:t>
            </a:r>
          </a:p>
          <a:p>
            <a:r>
              <a:rPr lang="ru-RU" sz="1400" dirty="0">
                <a:solidFill>
                  <a:schemeClr val="bg1"/>
                </a:solidFill>
              </a:rPr>
              <a:t>Имеют интерес к финансовой грамотности , хотят понять рынок, но теряются в сложной информации, ищут безопасный способ начать без рисков 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2. Начинающие аналитики и студенты финансовых направлений</a:t>
            </a:r>
          </a:p>
          <a:p>
            <a:r>
              <a:rPr lang="ru-RU" sz="1400" dirty="0">
                <a:solidFill>
                  <a:schemeClr val="bg1"/>
                </a:solidFill>
              </a:rPr>
              <a:t>Изучают экономику, финансы, </a:t>
            </a:r>
            <a:r>
              <a:rPr lang="ru-RU" sz="1400" dirty="0" err="1">
                <a:solidFill>
                  <a:schemeClr val="bg1"/>
                </a:solidFill>
              </a:rPr>
              <a:t>data</a:t>
            </a:r>
            <a:r>
              <a:rPr lang="ru-RU" sz="1400" dirty="0">
                <a:solidFill>
                  <a:schemeClr val="bg1"/>
                </a:solidFill>
              </a:rPr>
              <a:t> </a:t>
            </a:r>
            <a:r>
              <a:rPr lang="ru-RU" sz="1400" dirty="0" err="1">
                <a:solidFill>
                  <a:schemeClr val="bg1"/>
                </a:solidFill>
              </a:rPr>
              <a:t>science</a:t>
            </a:r>
            <a:r>
              <a:rPr lang="ru-RU" sz="1400" dirty="0">
                <a:solidFill>
                  <a:schemeClr val="bg1"/>
                </a:solidFill>
              </a:rPr>
              <a:t>, хотят практиковаться на реальных данных и кейсах, интересуются корпоративной отчётностью и рынками 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3. Частные инвесторы с небольшим опытом</a:t>
            </a:r>
          </a:p>
          <a:p>
            <a:r>
              <a:rPr lang="ru-RU" sz="1400" dirty="0">
                <a:solidFill>
                  <a:schemeClr val="bg1"/>
                </a:solidFill>
              </a:rPr>
              <a:t>Уже пробовали инвестировать, хотят улучшить навыки анализа, научиться читать рынок и избегать ошибок 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4. Люди, которые хотят “упакованное” обучение</a:t>
            </a:r>
          </a:p>
          <a:p>
            <a:r>
              <a:rPr lang="ru-RU" sz="1400" dirty="0">
                <a:solidFill>
                  <a:schemeClr val="bg1"/>
                </a:solidFill>
              </a:rPr>
              <a:t>Предпочитают простые объяснения, ценят пошаговый путь обучения, хотят видеть прогнозы и аналитику в одном месте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0" y="285750"/>
            <a:ext cx="8572500" cy="45720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52450" y="552450"/>
            <a:ext cx="8120063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Рынок</a:t>
            </a:r>
            <a:endParaRPr lang="en-US" sz="2398" dirty="0"/>
          </a:p>
        </p:txBody>
      </p:sp>
      <p:sp>
        <p:nvSpPr>
          <p:cNvPr id="4" name="Object3"/>
          <p:cNvSpPr/>
          <p:nvPr/>
        </p:nvSpPr>
        <p:spPr>
          <a:xfrm>
            <a:off x="552450" y="1243013"/>
            <a:ext cx="7707630" cy="4526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200" dirty="0">
                <a:solidFill>
                  <a:schemeClr val="bg1"/>
                </a:solidFill>
              </a:rPr>
              <a:t>Инвестиции становятся массовыми — всё больше людей хотят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грамотно управлять своими финансами и приумножать их, но им не хватает знаний и инструментов.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bg1"/>
                </a:solidFill>
              </a:rPr>
              <a:t>Рост интереса к инвестициям</a:t>
            </a:r>
          </a:p>
          <a:p>
            <a:r>
              <a:rPr lang="ru-RU" sz="1200" dirty="0">
                <a:solidFill>
                  <a:schemeClr val="bg1"/>
                </a:solidFill>
              </a:rPr>
              <a:t>За последние годы миллионы людей открыли брокерские счета, но большинство из них остаются неопытными и совершают типичные ошибки.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World Economic Forum – 30</a:t>
            </a:r>
            <a:r>
              <a:rPr lang="ru-RU" sz="1200" dirty="0">
                <a:solidFill>
                  <a:schemeClr val="bg1"/>
                </a:solidFill>
              </a:rPr>
              <a:t>% </a:t>
            </a:r>
            <a:r>
              <a:rPr lang="en-US" sz="1200" dirty="0">
                <a:solidFill>
                  <a:schemeClr val="bg1"/>
                </a:solidFill>
              </a:rPr>
              <a:t>Gen Z </a:t>
            </a:r>
            <a:r>
              <a:rPr lang="ru-RU" sz="1200" dirty="0">
                <a:solidFill>
                  <a:schemeClr val="bg1"/>
                </a:solidFill>
              </a:rPr>
              <a:t>начинают инвестировать уже в университете, однако 40%  опрошенных не инвестируют из-за страха ошибок.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bg1"/>
                </a:solidFill>
              </a:rPr>
              <a:t>Спрос на обучение и аналитику</a:t>
            </a:r>
          </a:p>
          <a:p>
            <a:r>
              <a:rPr lang="ru-RU" sz="1200" dirty="0">
                <a:solidFill>
                  <a:schemeClr val="bg1"/>
                </a:solidFill>
              </a:rPr>
              <a:t>Рынок финансового образования и инвестиционной аналитики стремительно растёт: пользователи ищут понятные курсы, реальные примеры и простые инструменты для принятия решений.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bg1"/>
                </a:solidFill>
              </a:rPr>
              <a:t>Недостаток комплексных решений</a:t>
            </a:r>
          </a:p>
          <a:p>
            <a:r>
              <a:rPr lang="ru-RU" sz="1200" dirty="0">
                <a:solidFill>
                  <a:schemeClr val="bg1"/>
                </a:solidFill>
              </a:rPr>
              <a:t>Существующие продукты дают либо сухую теорию, либо сложную аналитику, либо разрозненные прогнозы — но не объединяют всё в одном месте.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 err="1">
                <a:solidFill>
                  <a:schemeClr val="bg1"/>
                </a:solidFill>
              </a:rPr>
              <a:t>InvestEdu</a:t>
            </a:r>
            <a:r>
              <a:rPr lang="ru-RU" sz="1200" b="1" dirty="0">
                <a:solidFill>
                  <a:schemeClr val="bg1"/>
                </a:solidFill>
              </a:rPr>
              <a:t> занимает нишу между обучением, практикой и AI-аналитикой — создавая доступный вход в инвестирование для широкой аудитории</a:t>
            </a:r>
            <a:endParaRPr lang="ru-RU" sz="1200" dirty="0">
              <a:solidFill>
                <a:schemeClr val="bg1"/>
              </a:solidFill>
            </a:endParaRPr>
          </a:p>
          <a:p>
            <a:pPr algn="l"/>
            <a:endParaRPr lang="en-US" sz="1166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0" y="285750"/>
            <a:ext cx="8572500" cy="45720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52450" y="552450"/>
            <a:ext cx="8120063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Бизнес-модель / Монетизация</a:t>
            </a:r>
            <a:endParaRPr lang="en-US" sz="2398" dirty="0"/>
          </a:p>
        </p:txBody>
      </p:sp>
      <p:sp>
        <p:nvSpPr>
          <p:cNvPr id="4" name="Object3"/>
          <p:cNvSpPr/>
          <p:nvPr/>
        </p:nvSpPr>
        <p:spPr>
          <a:xfrm>
            <a:off x="552450" y="1243013"/>
            <a:ext cx="7631430" cy="3348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200" b="1" dirty="0">
                <a:solidFill>
                  <a:schemeClr val="bg1"/>
                </a:solidFill>
              </a:rPr>
              <a:t>Бизнес-модель / Монетизация</a:t>
            </a:r>
          </a:p>
          <a:p>
            <a:r>
              <a:rPr lang="ru-RU" sz="1200" dirty="0" err="1">
                <a:solidFill>
                  <a:schemeClr val="bg1"/>
                </a:solidFill>
              </a:rPr>
              <a:t>InvestEdu</a:t>
            </a:r>
            <a:r>
              <a:rPr lang="ru-RU" sz="1200" dirty="0">
                <a:solidFill>
                  <a:schemeClr val="bg1"/>
                </a:solidFill>
              </a:rPr>
              <a:t> может монетизироваться через гибридную модель, объединяющую подписку и дополнительные сервисы. 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1. Подписка (основа)</a:t>
            </a:r>
          </a:p>
          <a:p>
            <a:r>
              <a:rPr lang="ru-RU" sz="1200" dirty="0">
                <a:solidFill>
                  <a:schemeClr val="bg1"/>
                </a:solidFill>
              </a:rPr>
              <a:t>Месячная или годовая подписка даёт доступ ко всем урокам, кейсам и AI-ассистенту: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Базовый тариф — теория + симуляторы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Pro — все кейсы, расширенная аналитика </a:t>
            </a:r>
          </a:p>
          <a:p>
            <a:r>
              <a:rPr lang="en-US" sz="1200" dirty="0">
                <a:solidFill>
                  <a:schemeClr val="bg1"/>
                </a:solidFill>
              </a:rPr>
              <a:t>- </a:t>
            </a:r>
            <a:r>
              <a:rPr lang="ru-RU" sz="1200" dirty="0">
                <a:solidFill>
                  <a:schemeClr val="bg1"/>
                </a:solidFill>
              </a:rPr>
              <a:t>AI+ — прогнозы, сравнение акций 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2. Продажа отдельных модулей</a:t>
            </a:r>
          </a:p>
          <a:p>
            <a:r>
              <a:rPr lang="ru-RU" sz="1200" dirty="0">
                <a:solidFill>
                  <a:schemeClr val="bg1"/>
                </a:solidFill>
              </a:rPr>
              <a:t>Пользователь может приобрести: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отдельные курсы (например, технический анализ),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пакеты кейсов,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562100" y="2828925"/>
            <a:ext cx="14605933" cy="8948738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308722" y="180842"/>
            <a:ext cx="8120063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Конкуренты</a:t>
            </a:r>
            <a:endParaRPr lang="en-US" sz="2398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7D4E956-BDFE-0359-7E4E-4C8706062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23542"/>
              </p:ext>
            </p:extLst>
          </p:nvPr>
        </p:nvGraphicFramePr>
        <p:xfrm>
          <a:off x="308722" y="766506"/>
          <a:ext cx="8282548" cy="4124838"/>
        </p:xfrm>
        <a:graphic>
          <a:graphicData uri="http://schemas.openxmlformats.org/drawingml/2006/table">
            <a:tbl>
              <a:tblPr firstRow="1">
                <a:tableStyleId>{C083E6E3-FA7D-4D7B-A595-EF9225AFEA82}</a:tableStyleId>
              </a:tblPr>
              <a:tblGrid>
                <a:gridCol w="2070637">
                  <a:extLst>
                    <a:ext uri="{9D8B030D-6E8A-4147-A177-3AD203B41FA5}">
                      <a16:colId xmlns:a16="http://schemas.microsoft.com/office/drawing/2014/main" val="3982217973"/>
                    </a:ext>
                  </a:extLst>
                </a:gridCol>
                <a:gridCol w="2070637">
                  <a:extLst>
                    <a:ext uri="{9D8B030D-6E8A-4147-A177-3AD203B41FA5}">
                      <a16:colId xmlns:a16="http://schemas.microsoft.com/office/drawing/2014/main" val="2308399586"/>
                    </a:ext>
                  </a:extLst>
                </a:gridCol>
                <a:gridCol w="2070637">
                  <a:extLst>
                    <a:ext uri="{9D8B030D-6E8A-4147-A177-3AD203B41FA5}">
                      <a16:colId xmlns:a16="http://schemas.microsoft.com/office/drawing/2014/main" val="3283112388"/>
                    </a:ext>
                  </a:extLst>
                </a:gridCol>
                <a:gridCol w="2070637">
                  <a:extLst>
                    <a:ext uri="{9D8B030D-6E8A-4147-A177-3AD203B41FA5}">
                      <a16:colId xmlns:a16="http://schemas.microsoft.com/office/drawing/2014/main" val="1138465912"/>
                    </a:ext>
                  </a:extLst>
                </a:gridCol>
              </a:tblGrid>
              <a:tr h="52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Конкурент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6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Что делает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6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Плюсы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6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Ограничения</a:t>
                      </a:r>
                      <a:endParaRPr lang="ru-RU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6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298852"/>
                  </a:ext>
                </a:extLst>
              </a:tr>
              <a:tr h="685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</a:rPr>
                        <a:t>Классические обучающие курсы</a:t>
                      </a:r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Теория инвестиций, видеоуроки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Хорошая база знаний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Нет практики на реальных данных, мало интерактива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814887"/>
                  </a:ext>
                </a:extLst>
              </a:tr>
              <a:tr h="52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</a:rPr>
                        <a:t>Инвестиционные школы / онлайн-курсы</a:t>
                      </a:r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Образовательные программы и тренинги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Глубокие знания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Часто дорогие, не персонализированы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264477"/>
                  </a:ext>
                </a:extLst>
              </a:tr>
              <a:tr h="52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</a:rPr>
                        <a:t>Торговые симуляторы</a:t>
                      </a:r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Практика сделок на виртуальном рынке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Практика ордеров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Нет теории, нет аналитики, зачастую не поясняют пользователю его ошибки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434334"/>
                  </a:ext>
                </a:extLst>
              </a:tr>
              <a:tr h="52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chemeClr val="bg1"/>
                          </a:solidFill>
                        </a:rPr>
                        <a:t>Финансовые аналитические сервисы</a:t>
                      </a:r>
                      <a:endParaRPr lang="ru-RU" sz="1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Данные, графики, аналитика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Мощные инструменты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bg1"/>
                          </a:solidFill>
                        </a:rPr>
                        <a:t>Сложно для новичков, нет обучения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4430516"/>
                  </a:ext>
                </a:extLst>
              </a:tr>
              <a:tr h="52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AI-</a:t>
                      </a:r>
                      <a:r>
                        <a:rPr lang="ru-RU" sz="1200" b="1">
                          <a:solidFill>
                            <a:schemeClr val="bg1"/>
                          </a:solidFill>
                        </a:rPr>
                        <a:t>инструменты прогнозирования</a:t>
                      </a:r>
                      <a:endParaRPr lang="ru-RU" sz="1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Прогнозы цен и сигналов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Быстрые прогнозы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Часто не объясняют выводы и не обучают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1509440"/>
                  </a:ext>
                </a:extLst>
              </a:tr>
              <a:tr h="685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</a:rPr>
                        <a:t>InvestEdu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</a:rPr>
                        <a:t>наш продукт)</a:t>
                      </a:r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Теория + практика + AI-прогнозы в одном месте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Интерактивное обучение, реальные кейсы, пояснения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</a:rPr>
                        <a:t>Решение комплексное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6362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750" y="285750"/>
            <a:ext cx="8572500" cy="45720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52450" y="552450"/>
            <a:ext cx="8120063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Преимущества (уникальность)</a:t>
            </a:r>
            <a:endParaRPr lang="en-US" sz="2398" dirty="0"/>
          </a:p>
        </p:txBody>
      </p:sp>
      <p:sp>
        <p:nvSpPr>
          <p:cNvPr id="4" name="Object3"/>
          <p:cNvSpPr/>
          <p:nvPr/>
        </p:nvSpPr>
        <p:spPr>
          <a:xfrm>
            <a:off x="552450" y="1143277"/>
            <a:ext cx="7896606" cy="4526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200" dirty="0" err="1">
                <a:solidFill>
                  <a:schemeClr val="bg1"/>
                </a:solidFill>
              </a:rPr>
              <a:t>InvestEdu</a:t>
            </a:r>
            <a:r>
              <a:rPr lang="ru-RU" sz="1200" dirty="0">
                <a:solidFill>
                  <a:schemeClr val="bg1"/>
                </a:solidFill>
              </a:rPr>
              <a:t> появляется в тот момент, когда рынок особенно нуждается в понятном, честном и безопасном обучении инвестированию.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1. Новичкам нужна практика, а не сухая теория</a:t>
            </a:r>
          </a:p>
          <a:p>
            <a:r>
              <a:rPr lang="ru-RU" sz="1200" dirty="0" err="1">
                <a:solidFill>
                  <a:schemeClr val="bg1"/>
                </a:solidFill>
              </a:rPr>
              <a:t>InvestEdu</a:t>
            </a:r>
            <a:r>
              <a:rPr lang="ru-RU" sz="1200" dirty="0">
                <a:solidFill>
                  <a:schemeClr val="bg1"/>
                </a:solidFill>
              </a:rPr>
              <a:t> даёт возможность “попробовать рынок руками” ещё до реальных вложений — через кейсы, симуляции и обучение на реальных кейсах прошлого.</a:t>
            </a:r>
            <a:endParaRPr lang="en-US" sz="1200" dirty="0">
              <a:solidFill>
                <a:schemeClr val="bg1"/>
              </a:solidFill>
            </a:endParaRP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2</a:t>
            </a:r>
            <a:r>
              <a:rPr lang="ru-RU" sz="1200" b="1" dirty="0">
                <a:solidFill>
                  <a:schemeClr val="bg1"/>
                </a:solidFill>
              </a:rPr>
              <a:t>. Рынок перенасыщен сложной аналитикой</a:t>
            </a:r>
          </a:p>
          <a:p>
            <a:r>
              <a:rPr lang="ru-RU" sz="1200" dirty="0">
                <a:solidFill>
                  <a:schemeClr val="bg1"/>
                </a:solidFill>
              </a:rPr>
              <a:t>Большинство сервисов рассчитаны на профи. </a:t>
            </a:r>
            <a:r>
              <a:rPr lang="ru-RU" sz="1200" dirty="0" err="1">
                <a:solidFill>
                  <a:schemeClr val="bg1"/>
                </a:solidFill>
              </a:rPr>
              <a:t>InvestEdu</a:t>
            </a:r>
            <a:r>
              <a:rPr lang="ru-RU" sz="1200" dirty="0">
                <a:solidFill>
                  <a:schemeClr val="bg1"/>
                </a:solidFill>
              </a:rPr>
              <a:t> делает аналитические инструменты простыми и понятными для новичков.</a:t>
            </a:r>
            <a:endParaRPr lang="en-US" sz="1200" dirty="0">
              <a:solidFill>
                <a:schemeClr val="bg1"/>
              </a:solidFill>
            </a:endParaRP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3</a:t>
            </a:r>
            <a:r>
              <a:rPr lang="ru-RU" sz="1200" b="1" dirty="0">
                <a:solidFill>
                  <a:schemeClr val="bg1"/>
                </a:solidFill>
              </a:rPr>
              <a:t>. AI перестал быть трендом — он стал нормой</a:t>
            </a:r>
          </a:p>
          <a:p>
            <a:r>
              <a:rPr lang="ru-RU" sz="1200" dirty="0">
                <a:solidFill>
                  <a:schemeClr val="bg1"/>
                </a:solidFill>
              </a:rPr>
              <a:t>Прогнозы, объяснения факторов и персональные подсказки повышают уверенность пользователей и помогают избегать ошибок.</a:t>
            </a:r>
            <a:endParaRPr lang="en-US" sz="1200" dirty="0">
              <a:solidFill>
                <a:schemeClr val="bg1"/>
              </a:solidFill>
            </a:endParaRP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4</a:t>
            </a:r>
            <a:r>
              <a:rPr lang="ru-RU" sz="1200" b="1" dirty="0">
                <a:solidFill>
                  <a:schemeClr val="bg1"/>
                </a:solidFill>
              </a:rPr>
              <a:t>. Комплексный подход — уникальность продукта</a:t>
            </a:r>
          </a:p>
          <a:p>
            <a:r>
              <a:rPr lang="ru-RU" sz="1200" dirty="0">
                <a:solidFill>
                  <a:schemeClr val="bg1"/>
                </a:solidFill>
              </a:rPr>
              <a:t>В одном месте объединены уроки, реальные рыночные ситуации, актуальные данные и машинное обучение. Это делает обучение последовательным и логичным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 l="39052" r="35797" b="1"/>
          <a:stretch>
            <a:fillRect/>
          </a:stretch>
        </p:blipFill>
        <p:spPr>
          <a:xfrm>
            <a:off x="-2" y="-12672"/>
            <a:ext cx="5194732" cy="5163473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2500" y="1106066"/>
            <a:ext cx="2957664" cy="2945971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2"/>
          <p:cNvSpPr/>
          <p:nvPr/>
        </p:nvSpPr>
        <p:spPr>
          <a:xfrm>
            <a:off x="1430330" y="1656987"/>
            <a:ext cx="2378484" cy="1459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Команда</a:t>
            </a:r>
            <a:r>
              <a:rPr lang="ru-RU" sz="2400" b="1" i="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20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3"/>
          <p:cNvSpPr/>
          <p:nvPr/>
        </p:nvSpPr>
        <p:spPr>
          <a:xfrm>
            <a:off x="1430330" y="3120772"/>
            <a:ext cx="2378484" cy="69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</a:pPr>
            <a:r>
              <a: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Джафарова Фарида Зауровна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48256A-88AC-4254-406B-0E8EE2CC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65938" y="1455699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27AAA0-9C9D-B8C8-45E3-FCEDF5D347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4231"/>
          <a:stretch>
            <a:fillRect/>
          </a:stretch>
        </p:blipFill>
        <p:spPr>
          <a:xfrm>
            <a:off x="5194730" y="-12672"/>
            <a:ext cx="3949270" cy="51634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714750" y="3833812"/>
            <a:ext cx="23457998" cy="14372208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552450" y="326480"/>
            <a:ext cx="8120063" cy="573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Текущий статус/Результаты</a:t>
            </a:r>
            <a:endParaRPr lang="en-US" sz="2398" dirty="0"/>
          </a:p>
        </p:txBody>
      </p:sp>
      <p:sp>
        <p:nvSpPr>
          <p:cNvPr id="4" name="Object3"/>
          <p:cNvSpPr/>
          <p:nvPr/>
        </p:nvSpPr>
        <p:spPr>
          <a:xfrm>
            <a:off x="552450" y="952930"/>
            <a:ext cx="8191500" cy="37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200" b="1" dirty="0" err="1">
                <a:solidFill>
                  <a:schemeClr val="bg1"/>
                </a:solidFill>
              </a:rPr>
              <a:t>InvestEdu</a:t>
            </a:r>
            <a:r>
              <a:rPr lang="ru-RU" sz="1200" b="1" dirty="0">
                <a:solidFill>
                  <a:schemeClr val="bg1"/>
                </a:solidFill>
              </a:rPr>
              <a:t> уже готов к демонстрации: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1. Контент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Обучающий план уже продуман: 5 модулей, 40+ интерактивных уроков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Калькуляторы, симуляторы и тесты встроены в каждый урок, готово 5 уроков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- 6 исторических кейсов от Enron до Tesla и </a:t>
            </a:r>
            <a:r>
              <a:rPr lang="ru-RU" sz="1200" dirty="0" err="1">
                <a:solidFill>
                  <a:schemeClr val="bg1"/>
                </a:solidFill>
              </a:rPr>
              <a:t>GameStop</a:t>
            </a:r>
            <a:r>
              <a:rPr lang="ru-RU" sz="1200" dirty="0">
                <a:solidFill>
                  <a:schemeClr val="bg1"/>
                </a:solidFill>
              </a:rPr>
              <a:t>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Дополнительная справочная информация в виде словаря, справочных заметок, актуальных цен популярных акций и значений </a:t>
            </a:r>
            <a:r>
              <a:rPr lang="ru-RU" sz="1200" dirty="0" err="1">
                <a:solidFill>
                  <a:schemeClr val="bg1"/>
                </a:solidFill>
              </a:rPr>
              <a:t>макроэкономческих</a:t>
            </a:r>
            <a:r>
              <a:rPr lang="ru-RU" sz="1200" dirty="0">
                <a:solidFill>
                  <a:schemeClr val="bg1"/>
                </a:solidFill>
              </a:rPr>
              <a:t> признаков</a:t>
            </a:r>
          </a:p>
          <a:p>
            <a:pPr marL="285750" indent="-285750">
              <a:buFontTx/>
              <a:buChar char="-"/>
            </a:pPr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2. AI-модуль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ML-модель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- 27 признаков, ~790 000 строк данных 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3. Веб-платформа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Полный фронтенд на </a:t>
            </a:r>
            <a:r>
              <a:rPr lang="ru-RU" sz="1200" dirty="0" err="1">
                <a:solidFill>
                  <a:schemeClr val="bg1"/>
                </a:solidFill>
              </a:rPr>
              <a:t>React</a:t>
            </a:r>
            <a:r>
              <a:rPr lang="ru-RU" sz="1200" dirty="0">
                <a:solidFill>
                  <a:schemeClr val="bg1"/>
                </a:solidFill>
              </a:rPr>
              <a:t> + </a:t>
            </a:r>
            <a:r>
              <a:rPr lang="ru-RU" sz="1200" dirty="0" err="1">
                <a:solidFill>
                  <a:schemeClr val="bg1"/>
                </a:solidFill>
              </a:rPr>
              <a:t>TypeScript</a:t>
            </a:r>
            <a:r>
              <a:rPr lang="ru-RU" sz="1200" dirty="0">
                <a:solidFill>
                  <a:schemeClr val="bg1"/>
                </a:solidFill>
              </a:rPr>
              <a:t>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</a:t>
            </a:r>
            <a:r>
              <a:rPr lang="ru-RU" sz="1200" dirty="0" err="1">
                <a:solidFill>
                  <a:schemeClr val="bg1"/>
                </a:solidFill>
              </a:rPr>
              <a:t>Backend</a:t>
            </a:r>
            <a:r>
              <a:rPr lang="ru-RU" sz="1200" dirty="0">
                <a:solidFill>
                  <a:schemeClr val="bg1"/>
                </a:solidFill>
              </a:rPr>
              <a:t> на </a:t>
            </a:r>
            <a:r>
              <a:rPr lang="ru-RU" sz="1200" dirty="0" err="1">
                <a:solidFill>
                  <a:schemeClr val="bg1"/>
                </a:solidFill>
              </a:rPr>
              <a:t>FastAPI</a:t>
            </a:r>
            <a:r>
              <a:rPr lang="ru-RU" sz="1200" dirty="0">
                <a:solidFill>
                  <a:schemeClr val="bg1"/>
                </a:solidFill>
              </a:rPr>
              <a:t> с готовыми API для курсов, кейсов и AI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База данных </a:t>
            </a:r>
            <a:r>
              <a:rPr lang="ru-RU" sz="1200" dirty="0" err="1">
                <a:solidFill>
                  <a:schemeClr val="bg1"/>
                </a:solidFill>
              </a:rPr>
              <a:t>SQLite</a:t>
            </a:r>
            <a:r>
              <a:rPr lang="ru-RU" sz="1200" dirty="0">
                <a:solidFill>
                  <a:schemeClr val="bg1"/>
                </a:solidFill>
              </a:rPr>
              <a:t> с трекингом прогресса пользователей и достижений </a:t>
            </a:r>
          </a:p>
          <a:p>
            <a:pPr marL="285750" indent="-285750">
              <a:buFontTx/>
              <a:buChar char="-"/>
            </a:pPr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4. Геймификация и мотивация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Система баллов, уровней </a:t>
            </a:r>
          </a:p>
          <a:p>
            <a:r>
              <a:rPr lang="ru-RU" sz="1200" dirty="0">
                <a:solidFill>
                  <a:schemeClr val="bg1"/>
                </a:solidFill>
              </a:rPr>
              <a:t>- Пользовательский прогресс отслеживается и визуализируется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1171</Words>
  <Application>Microsoft Office PowerPoint</Application>
  <PresentationFormat>Экран (16:9)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Figma to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Figma to PPT</dc:creator>
  <cp:lastModifiedBy>Джафарова Фарида Зауровна</cp:lastModifiedBy>
  <cp:revision>30</cp:revision>
  <dcterms:created xsi:type="dcterms:W3CDTF">2026-03-23T14:58:10Z</dcterms:created>
  <dcterms:modified xsi:type="dcterms:W3CDTF">2026-03-25T11:24:41Z</dcterms:modified>
</cp:coreProperties>
</file>